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26C7A"/>
                </a:solidFill>
                <a:latin typeface="Avenir Next"/>
              </a:rPr>
              <a:t>HavenIQ voice support  ·  LiveKit  ·  Dean Peterson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26C7A"/>
                </a:solidFill>
                <a:latin typeface="Avenir Next"/>
              </a:rPr>
              <a:t>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41C2B"/>
                </a:solidFill>
                <a:latin typeface="Avenir Next"/>
              </a:rPr>
              <a:t>A voice support agent for HavenIQ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626C7A"/>
                </a:solidFill>
                <a:latin typeface="Avenir Next"/>
              </a:rPr>
              <a:t>Dean Peterson, Solutions Architect, LiveKit. Thirty minutes: the situation, the design, a live call, your questions throughout.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41C2B"/>
                </a:solidFill>
                <a:latin typeface="Avenir Next"/>
              </a:rPr>
              <a:t>Before we start, a quick round: who you are and what you want out of a support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0916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>Mike</a:t>
            </a:r>
          </a:p>
          <a:p>
            <a:pPr algn="ctr"/>
            <a:r>
              <a:rPr sz="1100">
                <a:solidFill>
                  <a:srgbClr val="626C7A"/>
                </a:solidFill>
                <a:latin typeface="Avenir Next"/>
              </a:rPr>
              <a:t>Director of AI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70916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>Ahmad</a:t>
            </a:r>
          </a:p>
          <a:p>
            <a:pPr algn="ctr"/>
            <a:r>
              <a:rPr sz="1100">
                <a:solidFill>
                  <a:srgbClr val="626C7A"/>
                </a:solidFill>
                <a:latin typeface="Avenir Next"/>
              </a:rPr>
              <a:t>Director of Customer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70916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>Lucy</a:t>
            </a:r>
          </a:p>
          <a:p>
            <a:pPr algn="ctr"/>
            <a:r>
              <a:rPr sz="1100">
                <a:solidFill>
                  <a:srgbClr val="626C7A"/>
                </a:solidFill>
                <a:latin typeface="Avenir Next"/>
              </a:rPr>
              <a:t>VP of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26C7A"/>
                </a:solidFill>
                <a:latin typeface="Avenir Next"/>
              </a:rPr>
              <a:t>HavenIQ voice support  ·  LiveKit  ·  Dean Peterson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26C7A"/>
                </a:solidFill>
                <a:latin typeface="Avenir Next"/>
              </a:rP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41C2B"/>
                </a:solidFill>
                <a:latin typeface="Avenir Next"/>
              </a:rPr>
              <a:t>Where HavenIQ is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26C7A"/>
                </a:solidFill>
                <a:latin typeface="Avenir Next"/>
              </a:rPr>
              <a:t>Connected thermostats, cameras, locks and sensors, plus a cloud video subscription. Every customer has an account, registered devices, a subscription and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0F7C6B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7C6B"/>
                </a:solidFill>
                <a:latin typeface="Avenir Next"/>
              </a:rPr>
              <a:t>What callers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1C2B"/>
                </a:solidFill>
                <a:latin typeface="Avenir Next"/>
              </a:rPr>
              <a:t>Where is my order. Is my thermostat online. What is the temperature in the living room. Why did my subscription lapse. Most of it is a lookup.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28600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12700">
            <a:solidFill>
              <a:srgbClr val="FDF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0F7C6B"/>
                </a:solidFill>
                <a:latin typeface="Avenir Next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146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7C6B"/>
                </a:solidFill>
                <a:latin typeface="Avenir Next"/>
              </a:rPr>
              <a:t>What it costs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1C2B"/>
                </a:solidFill>
                <a:latin typeface="Avenir Next"/>
              </a:rPr>
              <a:t>Every call starts with identity and context gathering. Routine questions take a person's time before the real problem surfaces. Handoffs lose what was already said.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28600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0F7C6B"/>
                </a:solidFill>
                <a:latin typeface="Avenir Next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5146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7C6B"/>
                </a:solidFill>
                <a:latin typeface="Avenir Next"/>
              </a:rPr>
              <a:t>What we are 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3017520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1C2B"/>
                </a:solidFill>
                <a:latin typeface="Avenir Next"/>
              </a:rPr>
              <a:t>A voice agent that greets by name, answers the routine questions from HavenIQ's own systems, and hands a person a summary and the recording when it should not decide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C2B"/>
                </a:solidFill>
                <a:latin typeface="Avenir Next"/>
              </a:rPr>
              <a:t>Success looks like: shorter calls, fewer repeated questions, and a human who joins already knowing the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26C7A"/>
                </a:solidFill>
                <a:latin typeface="Avenir Next"/>
              </a:rPr>
              <a:t>HavenIQ voice support  ·  LiveKit  ·  Dean Peterson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26C7A"/>
                </a:solidFill>
                <a:latin typeface="Avenir Next"/>
              </a:rP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C2B"/>
                </a:solidFill>
                <a:latin typeface="Avenir Next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26C7A"/>
                </a:solidFill>
                <a:latin typeface="Avenir Next"/>
              </a:rPr>
              <a:t>LiveKit carries the voice; HavenIQ's platform runs the agent.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26C7A"/>
                </a:solidFill>
                <a:latin typeface="Avenir Next"/>
              </a:rPr>
              <a:t>Media plane in LiveKit Cloud; agent, tools, tickets and recordings on HavenIQ's OpenShift cluster, all declared in git.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41C2B"/>
                </a:solidFill>
                <a:latin typeface="Avenir Next"/>
              </a:rPr>
              <a:t>Caller</a:t>
            </a:r>
          </a:p>
          <a:p>
            <a:pPr algn="ctr"/>
            <a:r>
              <a:rPr sz="1000">
                <a:solidFill>
                  <a:srgbClr val="626C7A"/>
                </a:solidFill>
                <a:latin typeface="Avenir Next"/>
              </a:rPr>
              <a:t>browser, or phone via SIP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2860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0F7C6B"/>
                </a:solidFill>
                <a:latin typeface="Avenir Next"/>
              </a:rPr>
              <a:t>LiveKit Cloud</a:t>
            </a:r>
          </a:p>
          <a:p>
            <a:pPr algn="ctr"/>
            <a:r>
              <a:rPr sz="1000">
                <a:solidFill>
                  <a:srgbClr val="626C7A"/>
                </a:solidFill>
                <a:latin typeface="Avenir Next"/>
              </a:rPr>
              <a:t>rooms, WebRTC, egress, inference (STT, TTS)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01168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41C2B"/>
                </a:solidFill>
                <a:latin typeface="Avenir Next"/>
              </a:rPr>
              <a:t>Voice worker</a:t>
            </a:r>
          </a:p>
          <a:p>
            <a:pPr algn="ctr"/>
            <a:r>
              <a:rPr sz="1000">
                <a:solidFill>
                  <a:srgbClr val="626C7A"/>
                </a:solidFill>
                <a:latin typeface="Avenir Next"/>
              </a:rPr>
              <a:t>LiveKit Agents SDK on OpenShift: listen, think, speak, hand 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286000"/>
            <a:ext cx="30175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41C2B"/>
                </a:solidFill>
                <a:latin typeface="Avenir Next"/>
              </a:rPr>
              <a:t>Model desk</a:t>
            </a:r>
          </a:p>
          <a:p>
            <a:pPr algn="ctr"/>
            <a:r>
              <a:rPr sz="1000">
                <a:solidFill>
                  <a:srgbClr val="626C7A"/>
                </a:solidFill>
                <a:latin typeface="Avenir Next"/>
              </a:rPr>
              <a:t>LLM behind a guardrail gateway; model is a config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416052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41C2B"/>
                </a:solidFill>
                <a:latin typeface="Avenir Next"/>
              </a:rPr>
              <a:t>MCP gateway</a:t>
            </a:r>
          </a:p>
          <a:p>
            <a:pPr algn="ctr"/>
            <a:r>
              <a:rPr sz="1000">
                <a:solidFill>
                  <a:srgbClr val="626C7A"/>
                </a:solidFill>
                <a:latin typeface="Avenir Next"/>
              </a:rPr>
              <a:t>every tool call authorized and logged; no credentials in the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54406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141C2B"/>
                </a:solidFill>
                <a:latin typeface="Avenir Next"/>
              </a:rPr>
              <a:t>HavenIQ cloud</a:t>
            </a:r>
          </a:p>
          <a:p>
            <a:pPr algn="ctr"/>
            <a:r>
              <a:rPr sz="1000">
                <a:solidFill>
                  <a:srgbClr val="626C7A"/>
                </a:solidFill>
                <a:latin typeface="Avenir Next"/>
              </a:rPr>
              <a:t>accounts, devices, orders (mock)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54406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141C2B"/>
                </a:solidFill>
                <a:latin typeface="Avenir Next"/>
              </a:rPr>
              <a:t>CRM bridge</a:t>
            </a:r>
          </a:p>
          <a:p>
            <a:pPr algn="ctr"/>
            <a:r>
              <a:rPr sz="1000">
                <a:solidFill>
                  <a:srgbClr val="626C7A"/>
                </a:solidFill>
                <a:latin typeface="Avenir Next"/>
              </a:rPr>
              <a:t>tickets, notes, handoff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5440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141C2B"/>
                </a:solidFill>
                <a:latin typeface="Avenir Next"/>
              </a:rPr>
              <a:t>Zammad</a:t>
            </a:r>
          </a:p>
          <a:p>
            <a:pPr algn="ctr"/>
            <a:r>
              <a:rPr sz="1000">
                <a:solidFill>
                  <a:srgbClr val="626C7A"/>
                </a:solidFill>
                <a:latin typeface="Avenir Next"/>
              </a:rPr>
              <a:t>the support team's desk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16052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141C2B"/>
                </a:solidFill>
                <a:latin typeface="Avenir Next"/>
              </a:rPr>
              <a:t>Object store (NooBaa)</a:t>
            </a:r>
          </a:p>
          <a:p>
            <a:pPr algn="ctr"/>
            <a:r>
              <a:rPr sz="1000">
                <a:solidFill>
                  <a:srgbClr val="626C7A"/>
                </a:solidFill>
                <a:latin typeface="Avenir Next"/>
              </a:rPr>
              <a:t>call recording, attached to the ticket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141C2B"/>
                </a:solidFill>
                <a:latin typeface="Avenir Next"/>
              </a:rPr>
              <a:t>Human agent</a:t>
            </a:r>
          </a:p>
          <a:p>
            <a:pPr algn="ctr"/>
            <a:r>
              <a:rPr sz="1000">
                <a:solidFill>
                  <a:srgbClr val="626C7A"/>
                </a:solidFill>
                <a:latin typeface="Avenir Next"/>
              </a:rPr>
              <a:t>joins the same room from the desk with the summary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2788920"/>
            <a:ext cx="548640" cy="0"/>
          </a:xfrm>
          <a:prstGeom prst="line">
            <a:avLst/>
          </a:prstGeom>
          <a:ln w="19050">
            <a:solidFill>
              <a:srgbClr val="626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28800" y="2532887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26C7A"/>
                </a:solidFill>
                <a:latin typeface="Avenir Next"/>
              </a:rPr>
              <a:t>audio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37760" y="2788920"/>
            <a:ext cx="640080" cy="0"/>
          </a:xfrm>
          <a:prstGeom prst="line">
            <a:avLst/>
          </a:prstGeom>
          <a:ln w="19050">
            <a:solidFill>
              <a:srgbClr val="626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34840" y="2532887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26C7A"/>
                </a:solidFill>
                <a:latin typeface="Avenir Next"/>
              </a:rPr>
              <a:t>dispatch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55279" y="2788920"/>
            <a:ext cx="640081" cy="0"/>
          </a:xfrm>
          <a:prstGeom prst="line">
            <a:avLst/>
          </a:prstGeom>
          <a:ln w="19050">
            <a:solidFill>
              <a:srgbClr val="626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52360" y="2532887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26C7A"/>
                </a:solidFill>
                <a:latin typeface="Avenir Next"/>
              </a:rPr>
              <a:t>turns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66560" y="3566160"/>
            <a:ext cx="0" cy="594360"/>
          </a:xfrm>
          <a:prstGeom prst="line">
            <a:avLst/>
          </a:prstGeom>
          <a:ln w="19050">
            <a:solidFill>
              <a:srgbClr val="626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0" y="3607307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26C7A"/>
                </a:solidFill>
                <a:latin typeface="Avenir Next"/>
              </a:rPr>
              <a:t>tool calls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931920" y="4681728"/>
            <a:ext cx="1645920" cy="758952"/>
          </a:xfrm>
          <a:prstGeom prst="line">
            <a:avLst/>
          </a:prstGeom>
          <a:ln w="19050">
            <a:solidFill>
              <a:srgbClr val="626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66560" y="5212080"/>
            <a:ext cx="0" cy="228600"/>
          </a:xfrm>
          <a:prstGeom prst="line">
            <a:avLst/>
          </a:prstGeom>
          <a:ln w="19050">
            <a:solidFill>
              <a:srgbClr val="626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55279" y="5897880"/>
            <a:ext cx="457201" cy="0"/>
          </a:xfrm>
          <a:prstGeom prst="line">
            <a:avLst/>
          </a:prstGeom>
          <a:ln w="19050">
            <a:solidFill>
              <a:srgbClr val="626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60919" y="564184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26C7A"/>
                </a:solidFill>
                <a:latin typeface="Avenir Next"/>
              </a:rPr>
              <a:t>API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37760" y="2651760"/>
            <a:ext cx="3657600" cy="1737360"/>
          </a:xfrm>
          <a:prstGeom prst="line">
            <a:avLst/>
          </a:prstGeom>
          <a:ln w="19050">
            <a:solidFill>
              <a:srgbClr val="626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3600" y="3264407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26C7A"/>
                </a:solidFill>
                <a:latin typeface="Avenir Next"/>
              </a:rPr>
              <a:t>egress → recording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377440" y="3017520"/>
            <a:ext cx="548640" cy="1664208"/>
          </a:xfrm>
          <a:prstGeom prst="line">
            <a:avLst/>
          </a:prstGeom>
          <a:ln w="19050">
            <a:solidFill>
              <a:srgbClr val="626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828800" y="359359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26C7A"/>
                </a:solidFill>
                <a:latin typeface="Avenir Next"/>
              </a:rPr>
              <a:t>joins room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26C7A"/>
                </a:solidFill>
                <a:latin typeface="Avenir Next"/>
              </a:rPr>
              <a:t>HavenIQ voice support  ·  LiveKit  ·  Dean Peterson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26C7A"/>
                </a:solidFill>
                <a:latin typeface="Avenir Next"/>
              </a:rP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41C2B"/>
                </a:solidFill>
                <a:latin typeface="Avenir Next"/>
              </a:rPr>
              <a:t>The call you are about to hear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>1  Greet by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709928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1C2B"/>
                </a:solidFill>
                <a:latin typeface="Avenir Next"/>
              </a:rPr>
              <a:t>The caller's number arrives with the call. The agent looks the account up through the gateway before the first word and greets Dana by name.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>2  Answer from the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852928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1C2B"/>
                </a:solidFill>
                <a:latin typeface="Avenir Next"/>
              </a:rPr>
              <a:t>Order status, thermostat status, living-room temperature: each answer is a governed tool call to HavenIQ's cloud, never a guess.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86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>3  Hand off with the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995928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1C2B"/>
                </a:solidFill>
                <a:latin typeface="Avenir Next"/>
              </a:rPr>
              <a:t>When Dana asks for a person, the agent opens the ticket with a summary, pages the desk, and a human joins the same room already briefed.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29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>4  Close the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5138928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1C2B"/>
                </a:solidFill>
                <a:latin typeface="Avenir Next"/>
              </a:rPr>
              <a:t>The recording lands in HavenIQ's own object store and is attached to the ticket, so the follow-up has both the summary and the audio.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26C7A"/>
                </a:solidFill>
                <a:latin typeface="Avenir Next"/>
              </a:rPr>
              <a:t>Interrupt any time; the agent handles interruptions the same way you just did.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26C7A"/>
                </a:solidFill>
                <a:latin typeface="Avenir Next"/>
              </a:rPr>
              <a:t>HavenIQ voice support  ·  LiveKit  ·  Dean Peterson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26C7A"/>
                </a:solidFill>
                <a:latin typeface="Avenir Next"/>
              </a:rP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41C2B"/>
                </a:solidFill>
                <a:latin typeface="Avenir Next"/>
              </a:rPr>
              <a:t>What it takes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7C6B"/>
                </a:solidFill>
                <a:latin typeface="Avenir Next"/>
              </a:rPr>
              <a:t>Latency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2860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C2B"/>
                </a:solidFill>
                <a:latin typeface="Avenir Next"/>
              </a:rPr>
              <a:t>Speech to text, one model turn with tools, text to speech. The model turn is the variable; tool calls are local to the cluster. Target under two seconds to first word.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12700">
            <a:solidFill>
              <a:srgbClr val="FDF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187451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7C6B"/>
                </a:solidFill>
                <a:latin typeface="Avenir Next"/>
              </a:rPr>
              <a:t>Cost per minute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377440"/>
            <a:ext cx="22860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C2B"/>
                </a:solidFill>
                <a:latin typeface="Avenir Next"/>
              </a:rPr>
              <a:t>LiveKit media and inference are metered per minute; the model per token; the rest is cluster capacity you already own. Routine calls cost cents; a human's time is the expensive part we protect.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EFF7F5"/>
          </a:solidFill>
          <a:ln w="12700">
            <a:solidFill>
              <a:srgbClr val="EF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7C6B"/>
                </a:solidFill>
                <a:latin typeface="Avenir Next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22860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C2B"/>
                </a:solidFill>
                <a:latin typeface="Avenir Next"/>
              </a:rPr>
              <a:t>Every tool the agent can use is registered and authorized per call, with an audit line. The agent holds no credentials. Swapping the model is a configuration change, not a rebuild.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64592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F7C6B"/>
                </a:solidFill>
                <a:latin typeface="Avenir Next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187451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7C6B"/>
                </a:solidFill>
                <a:latin typeface="Avenir Next"/>
              </a:rPr>
              <a:t>What is mock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2377440"/>
            <a:ext cx="22860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C2B"/>
                </a:solidFill>
                <a:latin typeface="Avenir Next"/>
              </a:rPr>
              <a:t>Accounts, devices and orders are a seeded store. Replace it with your real APIs behind the same gateway; the agent's calls do not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C2B"/>
                </a:solidFill>
                <a:latin typeface="Avenir Next"/>
              </a:rPr>
              <a:t>Questions welcome now, or after the call.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