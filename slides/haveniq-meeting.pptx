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26C7A"/>
                </a:solidFill>
                <a:latin typeface="Avenir Next"/>
              </a:rPr>
              <a:t>HavenIQ voice support  ·  LiveKit  ·  Dean Peterson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26C7A"/>
                </a:solidFill>
                <a:latin typeface="Avenir Next"/>
              </a:rPr>
              <a:t>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41C2B"/>
                </a:solidFill>
                <a:latin typeface="Avenir Next"/>
              </a:rPr>
              <a:t>A voice support agent for HavenIQ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626C7A"/>
                </a:solidFill>
                <a:latin typeface="Avenir Next"/>
              </a:rPr>
              <a:t>Dean Peterson, Solutions Architect, LiveKit. Thirty minutes: the situation, the design, a live call, your questions throughout.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41C2B"/>
                </a:solidFill>
                <a:latin typeface="Avenir Next"/>
              </a:rPr>
              <a:t>Before we start, a quick round: who you are and what you want out of a support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Mike</a:t>
            </a:r>
          </a:p>
          <a:p>
            <a:pPr algn="ctr"/>
            <a:r>
              <a:rPr sz="1100">
                <a:solidFill>
                  <a:srgbClr val="626C7A"/>
                </a:solidFill>
                <a:latin typeface="Avenir Next"/>
              </a:rPr>
              <a:t>Director of AI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470916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Ahmad</a:t>
            </a:r>
          </a:p>
          <a:p>
            <a:pPr algn="ctr"/>
            <a:r>
              <a:rPr sz="1100">
                <a:solidFill>
                  <a:srgbClr val="626C7A"/>
                </a:solidFill>
                <a:latin typeface="Avenir Next"/>
              </a:rPr>
              <a:t>Director of Customer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0916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Lucy</a:t>
            </a:r>
          </a:p>
          <a:p>
            <a:pPr algn="ctr"/>
            <a:r>
              <a:rPr sz="1100">
                <a:solidFill>
                  <a:srgbClr val="626C7A"/>
                </a:solidFill>
                <a:latin typeface="Avenir Next"/>
              </a:rPr>
              <a:t>VP of Finance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26C7A"/>
                </a:solidFill>
                <a:latin typeface="Avenir Next"/>
              </a:rPr>
              <a:t>HavenIQ voice support  ·  LiveKit  ·  Dean Peterson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26C7A"/>
                </a:solidFill>
                <a:latin typeface="Avenir Next"/>
              </a:rPr>
              <a:t>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41C2B"/>
                </a:solidFill>
                <a:latin typeface="Avenir Next"/>
              </a:rPr>
              <a:t>Where HavenIQ is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26C7A"/>
                </a:solidFill>
                <a:latin typeface="Avenir Next"/>
              </a:rPr>
              <a:t>Connected thermostats, cameras, locks and sensors, plus a cloud video subscription. Every customer has an account, registered devices, a subscription and orders.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520440" cy="329184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7C6B"/>
                </a:solidFill>
                <a:latin typeface="Avenir Next"/>
              </a:rPr>
              <a:t>What callers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3063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C2B"/>
                </a:solidFill>
                <a:latin typeface="Avenir Next"/>
              </a:rPr>
              <a:t>Where is my order. Is my thermostat online. What is the temperature in the living room. Why did my subscription lapse. Most of it is a lookup.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286000"/>
            <a:ext cx="3520440" cy="3291840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2700">
            <a:solidFill>
              <a:srgbClr val="FDF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7C6B"/>
                </a:solidFill>
                <a:latin typeface="Avenir Next"/>
              </a:rPr>
              <a:t>What it costs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017520"/>
            <a:ext cx="3063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C2B"/>
                </a:solidFill>
                <a:latin typeface="Avenir Next"/>
              </a:rPr>
              <a:t>Every call starts with identity and context gathering. Routine questions take a person's time before the real problem surfaces. Handoffs lose what was already said.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286000"/>
            <a:ext cx="3520440" cy="329184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5146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F7C6B"/>
                </a:solidFill>
                <a:latin typeface="Avenir Next"/>
              </a:rPr>
              <a:t>What we are building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3017520"/>
            <a:ext cx="3063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C2B"/>
                </a:solidFill>
                <a:latin typeface="Avenir Next"/>
              </a:rPr>
              <a:t>A voice agent that greets by name, answers the routine questions from HavenIQ's own systems, and hands a person a summary and the recording when it should not decide alone.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C2B"/>
                </a:solidFill>
                <a:latin typeface="Avenir Next"/>
              </a:rPr>
              <a:t>Success looks like: shorter calls, fewer repeated questions, and a human who joins already knowing the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26C7A"/>
                </a:solidFill>
                <a:latin typeface="Avenir Next"/>
              </a:rPr>
              <a:t>HavenIQ voice support  ·  LiveKit  ·  Dean Peterson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26C7A"/>
                </a:solidFill>
                <a:latin typeface="Avenir Next"/>
              </a:rPr>
              <a:t>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41C2B"/>
                </a:solidFill>
                <a:latin typeface="Avenir Nex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26C7A"/>
                </a:solidFill>
                <a:latin typeface="Avenir Next"/>
              </a:rPr>
              <a:t>LiveKit carries the voice; HavenIQ's platform runs the agent.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26C7A"/>
                </a:solidFill>
                <a:latin typeface="Avenir Next"/>
              </a:rPr>
              <a:t>Media plane in LiveKit Cloud; agent, tools, tickets and recordings on HavenIQ's OpenShift cluster, all declared in git.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8288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41C2B"/>
                </a:solidFill>
                <a:latin typeface="Avenir Next"/>
              </a:rPr>
              <a:t>Caller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browser, or phone via SIP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28600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0F7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0F7C6B"/>
                </a:solidFill>
                <a:latin typeface="Avenir Next"/>
              </a:rPr>
              <a:t>LiveKit Cloud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rooms, WebRTC, egress, inference (STT, TTS)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011680"/>
            <a:ext cx="2377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41C2B"/>
                </a:solidFill>
                <a:latin typeface="Avenir Next"/>
              </a:rPr>
              <a:t>Voice worker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LiveKit Agents SDK on OpenShift: listen, think, speak, hand off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2286000"/>
            <a:ext cx="30175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41C2B"/>
                </a:solidFill>
                <a:latin typeface="Avenir Next"/>
              </a:rPr>
              <a:t>Model desk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LLM behind a guardrail gateway; model is a config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416052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41C2B"/>
                </a:solidFill>
                <a:latin typeface="Avenir Next"/>
              </a:rPr>
              <a:t>MCP gateway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every tool call authorized and logged; no credentials in the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544068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HavenIQ cloud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accounts, devices, orders (mock)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544068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CRM bridge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tickets, notes, handoff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54406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Zammad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the support team's desk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4160520"/>
            <a:ext cx="30175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Object store (NooBaa)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call recording, attached to the ticket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Case worker agent</a:t>
            </a:r>
          </a:p>
          <a:p>
            <a:pPr algn="ctr"/>
            <a:r>
              <a:rPr sz="900">
                <a:solidFill>
                  <a:srgbClr val="626C7A"/>
                </a:solidFill>
                <a:latin typeface="Avenir Next"/>
              </a:rPr>
              <a:t>files the call after it ends; answers the team in chat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5897880"/>
            <a:ext cx="365760" cy="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41605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41C2B"/>
                </a:solidFill>
                <a:latin typeface="Avenir Next"/>
              </a:rPr>
              <a:t>Human agent</a:t>
            </a:r>
          </a:p>
          <a:p>
            <a:pPr algn="ctr"/>
            <a:r>
              <a:rPr sz="1000">
                <a:solidFill>
                  <a:srgbClr val="626C7A"/>
                </a:solidFill>
                <a:latin typeface="Avenir Next"/>
              </a:rPr>
              <a:t>joins the same room from the desk with the summary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788920"/>
            <a:ext cx="548640" cy="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532887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audio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2788920"/>
            <a:ext cx="640080" cy="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34840" y="2532887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dispatch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79" y="2788920"/>
            <a:ext cx="640081" cy="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52360" y="2532887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turns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66560" y="3566160"/>
            <a:ext cx="0" cy="59436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43600" y="3607307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tool calls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931920" y="4681728"/>
            <a:ext cx="1645920" cy="758952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766560" y="5212080"/>
            <a:ext cx="0" cy="22860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55279" y="5897880"/>
            <a:ext cx="457201" cy="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60919" y="564184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API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37760" y="2651760"/>
            <a:ext cx="3657600" cy="1737360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00" y="3264407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egress → recording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377440" y="3017520"/>
            <a:ext cx="548640" cy="1664208"/>
          </a:xfrm>
          <a:prstGeom prst="line">
            <a:avLst/>
          </a:prstGeom>
          <a:ln w="19050">
            <a:solidFill>
              <a:srgbClr val="626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828800" y="3593591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26C7A"/>
                </a:solidFill>
                <a:latin typeface="Avenir Next"/>
              </a:rPr>
              <a:t>joins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26C7A"/>
                </a:solidFill>
                <a:latin typeface="Avenir Next"/>
              </a:rPr>
              <a:t>HavenIQ voice support  ·  LiveKit  ·  Dean Peterson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26C7A"/>
                </a:solidFill>
                <a:latin typeface="Avenir Next"/>
              </a:rPr>
              <a:t>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41C2B"/>
                </a:solidFill>
                <a:latin typeface="Avenir Next"/>
              </a:rPr>
              <a:t>The call you are about to hear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1  Greet by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709928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C2B"/>
                </a:solidFill>
                <a:latin typeface="Avenir Next"/>
              </a:rPr>
              <a:t>The caller's number arrives with the call. The agent looks the account up through the gateway before the first word and greets Dana by name.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2  Answer from the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852928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C2B"/>
                </a:solidFill>
                <a:latin typeface="Avenir Next"/>
              </a:rPr>
              <a:t>Order status, thermostat status, living-room temperature: each answer is a governed tool call to HavenIQ's cloud, never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862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3  Hand off with the 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95928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C2B"/>
                </a:solidFill>
                <a:latin typeface="Avenir Next"/>
              </a:rPr>
              <a:t>When Dana asks for a person, the agent opens the ticket with a summary, pages the desk, and a human joins the same room already briefed.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>4  Close 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5138928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C2B"/>
                </a:solidFill>
                <a:latin typeface="Avenir Next"/>
              </a:rPr>
              <a:t>The recording lands in HavenIQ's own object store and is attached to the ticket, and a second agent, the case worker, files the call: category, facts, follow-ups.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26C7A"/>
                </a:solidFill>
                <a:latin typeface="Avenir Next"/>
              </a:rPr>
              <a:t>Interrupt any time; the agent handles interruptions the same way you just did.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26C7A"/>
                </a:solidFill>
                <a:latin typeface="Avenir Next"/>
              </a:rPr>
              <a:t>HavenIQ voice support  ·  LiveKit  ·  Dean Peterson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26C7A"/>
                </a:solidFill>
                <a:latin typeface="Avenir Next"/>
              </a:rPr>
              <a:t>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41C2B"/>
                </a:solidFill>
                <a:latin typeface="Avenir Next"/>
              </a:rPr>
              <a:t>What it takes to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651760" cy="420624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7C6B"/>
                </a:solidFill>
                <a:latin typeface="Avenir Next"/>
              </a:rPr>
              <a:t>Latency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286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C2B"/>
                </a:solidFill>
                <a:latin typeface="Avenir Next"/>
              </a:rPr>
              <a:t>Speech to text, one model turn with tools, text to speech. The model turn is the variable; tool calls are local to the cluster. Target under two seconds to first word.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651760" cy="4206240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2700">
            <a:solidFill>
              <a:srgbClr val="FDF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79" y="187451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7C6B"/>
                </a:solidFill>
                <a:latin typeface="Avenir Next"/>
              </a:rPr>
              <a:t>Cost per minute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377440"/>
            <a:ext cx="2286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C2B"/>
                </a:solidFill>
                <a:latin typeface="Avenir Next"/>
              </a:rPr>
              <a:t>LiveKit media and inference are metered per minute; the model per token; the rest is cluster capacity you already own. Routine calls cost cents; a human's time is the expensive part we protect.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651760" cy="4206240"/>
          </a:xfrm>
          <a:prstGeom prst="roundRect">
            <a:avLst>
              <a:gd name="adj" fmla="val 8000"/>
            </a:avLst>
          </a:prstGeom>
          <a:solidFill>
            <a:srgbClr val="EFF7F5"/>
          </a:solidFill>
          <a:ln w="12700">
            <a:solidFill>
              <a:srgbClr val="EFF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7C6B"/>
                </a:solidFill>
                <a:latin typeface="Avenir Next"/>
              </a:rPr>
              <a:t>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40"/>
            <a:ext cx="2286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C2B"/>
                </a:solidFill>
                <a:latin typeface="Avenir Next"/>
              </a:rPr>
              <a:t>Every tool the agent can use is registered and authorized per call, with an audit line. The agent holds no credentials. Swapping the model is a configuration change, not a rebuild.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1645920"/>
            <a:ext cx="26517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F7C6B"/>
                </a:solidFill>
                <a:latin typeface="Avenir Next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1874519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7C6B"/>
                </a:solidFill>
                <a:latin typeface="Avenir Next"/>
              </a:rPr>
              <a:t>What is mock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2377440"/>
            <a:ext cx="2286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41C2B"/>
                </a:solidFill>
                <a:latin typeface="Avenir Next"/>
              </a:rPr>
              <a:t>Accounts, devices and orders are a seeded store. Replace it with your real APIs behind the same gateway; the agent's calls do not change.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C2B"/>
                </a:solidFill>
                <a:latin typeface="Avenir Next"/>
              </a:rPr>
              <a:t>Questions welcome now, or after the 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